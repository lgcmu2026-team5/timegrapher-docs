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24d182dd1442c0" /><Relationship Type="http://schemas.openxmlformats.org/officeDocument/2006/relationships/extended-properties" Target="/docProps/app.xml" Id="R4ef4c3de041d4c67" /><Relationship Type="http://schemas.openxmlformats.org/officeDocument/2006/relationships/officeDocument" Target="/ppt/presentation.xml" Id="Rc81e1aab5e764b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115e5277e44554"/>
  </p:sldMasterIdLst>
  <p:notesMasterIdLst>
    <p:notesMasterId xmlns:r="http://schemas.openxmlformats.org/officeDocument/2006/relationships" r:id="R4a1815ac1cfc488f"/>
  </p:notesMasterIdLst>
  <p:sldIdLst>
    <p:sldId xmlns:r="http://schemas.openxmlformats.org/officeDocument/2006/relationships" id="256" r:id="Re6343bcf4c9a4f77"/>
    <p:sldId xmlns:r="http://schemas.openxmlformats.org/officeDocument/2006/relationships" id="257" r:id="R03b4b2b6d85344e9"/>
    <p:sldId xmlns:r="http://schemas.openxmlformats.org/officeDocument/2006/relationships" id="258" r:id="R872a9533eaa64cd6"/>
    <p:sldId xmlns:r="http://schemas.openxmlformats.org/officeDocument/2006/relationships" id="259" r:id="R87282f0834c54aef"/>
    <p:sldId xmlns:r="http://schemas.openxmlformats.org/officeDocument/2006/relationships" id="260" r:id="R6b121022b2a84b2d"/>
    <p:sldId xmlns:r="http://schemas.openxmlformats.org/officeDocument/2006/relationships" id="261" r:id="R1e9ab920d41640be"/>
    <p:sldId xmlns:r="http://schemas.openxmlformats.org/officeDocument/2006/relationships" id="262" r:id="Rd2db3b07930a4b62"/>
    <p:sldId xmlns:r="http://schemas.openxmlformats.org/officeDocument/2006/relationships" id="263" r:id="R61d196b90b2f4c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2baf751a5f4e12" /><Relationship Type="http://schemas.openxmlformats.org/officeDocument/2006/relationships/slideMaster" Target="/ppt/slideMasters/slideMaster1.xml" Id="R19115e5277e44554" /><Relationship Type="http://schemas.openxmlformats.org/officeDocument/2006/relationships/notesMaster" Target="/ppt/notesMasters/notesMaster1.xml" Id="R4a1815ac1cfc488f" /><Relationship Type="http://schemas.openxmlformats.org/officeDocument/2006/relationships/presProps" Target="/ppt/presProps.xml" Id="R1599590df9464054" /><Relationship Type="http://schemas.openxmlformats.org/officeDocument/2006/relationships/tableStyles" Target="/ppt/tableStyles.xml" Id="R8c92262633cb43b6" /><Relationship Type="http://schemas.openxmlformats.org/officeDocument/2006/relationships/slide" Target="/ppt/slides/slide1.xml" Id="Re6343bcf4c9a4f77" /><Relationship Type="http://schemas.openxmlformats.org/officeDocument/2006/relationships/slide" Target="/ppt/slides/slide2.xml" Id="R03b4b2b6d85344e9" /><Relationship Type="http://schemas.openxmlformats.org/officeDocument/2006/relationships/slide" Target="/ppt/slides/slide3.xml" Id="R872a9533eaa64cd6" /><Relationship Type="http://schemas.openxmlformats.org/officeDocument/2006/relationships/slide" Target="/ppt/slides/slide4.xml" Id="R87282f0834c54aef" /><Relationship Type="http://schemas.openxmlformats.org/officeDocument/2006/relationships/slide" Target="/ppt/slides/slide5.xml" Id="R6b121022b2a84b2d" /><Relationship Type="http://schemas.openxmlformats.org/officeDocument/2006/relationships/slide" Target="/ppt/slides/slide6.xml" Id="R1e9ab920d41640be" /><Relationship Type="http://schemas.openxmlformats.org/officeDocument/2006/relationships/slide" Target="/ppt/slides/slide7.xml" Id="Rd2db3b07930a4b62" /><Relationship Type="http://schemas.openxmlformats.org/officeDocument/2006/relationships/slide" Target="/ppt/slides/slide8.xml" Id="R61d196b90b2f4c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9d7d09765b44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4ad531589d4df9" /><Relationship Type="http://schemas.openxmlformats.org/officeDocument/2006/relationships/notesMaster" Target="/ppt/notesMasters/notesMaster1.xml" Id="R7d5e49055ce849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ea4c042a3d44f8" /><Relationship Type="http://schemas.openxmlformats.org/officeDocument/2006/relationships/notesMaster" Target="/ppt/notesMasters/notesMaster1.xml" Id="Rd05d15a0fb8045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18accec29745d9" /><Relationship Type="http://schemas.openxmlformats.org/officeDocument/2006/relationships/notesMaster" Target="/ppt/notesMasters/notesMaster1.xml" Id="Rd8165c33017747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576638c8044f2d" /><Relationship Type="http://schemas.openxmlformats.org/officeDocument/2006/relationships/notesMaster" Target="/ppt/notesMasters/notesMaster1.xml" Id="Ra4eb4a647cc040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e3530346ba441d" /><Relationship Type="http://schemas.openxmlformats.org/officeDocument/2006/relationships/notesMaster" Target="/ppt/notesMasters/notesMaster1.xml" Id="R4a787fefb06240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b0424de78745e7" /><Relationship Type="http://schemas.openxmlformats.org/officeDocument/2006/relationships/notesMaster" Target="/ppt/notesMasters/notesMaster1.xml" Id="R4a6f9cbb5adf46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36652d81bb4848" /><Relationship Type="http://schemas.openxmlformats.org/officeDocument/2006/relationships/notesMaster" Target="/ppt/notesMasters/notesMaster1.xml" Id="Rd9acd093b8db4d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536867ed664af0" /><Relationship Type="http://schemas.openxmlformats.org/officeDocument/2006/relationships/notesMaster" Target="/ppt/notesMasters/notesMaster1.xml" Id="R29d67a6f043541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product, not the diagram.</a:t>
            </a:r>
          </a:p>
          <a:p xmlns:a="http://schemas.openxmlformats.org/drawingml/2006/main">
            <a:r>
              <a:t>Frame the talk: architecture choices and evidence behind the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ADR-001 explicitly.</a:t>
            </a:r>
          </a:p>
          <a:p xmlns:a="http://schemas.openxmlformats.org/drawingml/2006/main">
            <a:r>
              <a:t>Tie this slide to portability and modifiability.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at Core first.</a:t>
            </a:r>
          </a:p>
          <a:p xmlns:a="http://schemas.openxmlformats.org/drawingml/2006/main">
            <a:r>
              <a:t>Say the boundary is enforced in CI, not only in a diagram.</a:t>
            </a:r>
          </a:p>
          <a:p xmlns:a="http://schemas.openxmlformats.org/drawingml/2006/main">
            <a:r>
              <a:t>Be honest about partial MVVM.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these are measurable scenarios.</a:t>
            </a:r>
          </a:p>
          <a:p xmlns:a="http://schemas.openxmlformats.org/drawingml/2006/main">
            <a:r>
              <a:t>Emphasize ADR-002: worker-level Pipe-and-Filter protects latency.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 is one beat period.</a:t>
            </a:r>
          </a:p>
          <a:p xmlns:a="http://schemas.openxmlformats.org/drawingml/2006/main">
            <a:r>
              <a:t>Use measured numbers: 40 ms and 34.6 ms worst, zero drop/miss.</a:t>
            </a:r>
          </a:p>
          <a:p xmlns:a="http://schemas.openxmlformats.org/drawingml/2006/main">
            <a:r>
              <a:t>Mention 24-hour stability.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CI/CD is a support mechanism, not the product.</a:t>
            </a:r>
          </a:p>
          <a:p xmlns:a="http://schemas.openxmlformats.org/drawingml/2006/main">
            <a:r>
              <a:t>Accuracy starts with runtime design and reference comparison.</a:t>
            </a:r>
          </a:p>
          <a:p xmlns:a="http://schemas.openxmlformats.org/drawingml/2006/main">
            <a:r>
              <a:t>Do not overclaim Witschi/Weishi if missing.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Area 5 and Area 7.</a:t>
            </a:r>
          </a:p>
          <a:p xmlns:a="http://schemas.openxmlformats.org/drawingml/2006/main">
            <a:r>
              <a:t>AI is product path, development collaborator, and CI/CD automation.</a:t>
            </a:r>
          </a:p>
          <a:p xmlns:a="http://schemas.openxmlformats.org/drawingml/2006/main">
            <a:r>
              <a:t>Do not claim TinyML model unless present.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four messages, then invite questions.</a:t>
            </a:r>
          </a:p>
          <a:p xmlns:a="http://schemas.openxmlformats.org/drawingml/2006/main">
            <a:r>
              <a:t>Use the Q&amp;A anchors if asked about SW Architect document alignment.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db3cb89d3943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1ef3ae0c8b4c53" /><Relationship Type="http://schemas.openxmlformats.org/officeDocument/2006/relationships/slideLayout" Target="/ppt/slideLayouts/slideLayout1.xml" Id="Rc1b62a2755614e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b62a2755614e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0cc3c1ff14bb3" /><Relationship Type="http://schemas.openxmlformats.org/officeDocument/2006/relationships/notesSlide" Target="/ppt/notesSlides/notesSlide1.xml" Id="R3be63d1af12e42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53c12f9594533" /><Relationship Type="http://schemas.openxmlformats.org/officeDocument/2006/relationships/notesSlide" Target="/ppt/notesSlides/notesSlide2.xml" Id="Rba3c0e7c889942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d4ea73b354e01" /><Relationship Type="http://schemas.openxmlformats.org/officeDocument/2006/relationships/image" Target="/ppt/media/image.png" Id="R9165999dc2ff4e5c" /><Relationship Type="http://schemas.openxmlformats.org/officeDocument/2006/relationships/notesSlide" Target="/ppt/notesSlides/notesSlide3.xml" Id="R8588896df8cf47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4e98b21eb4da2" /><Relationship Type="http://schemas.openxmlformats.org/officeDocument/2006/relationships/image" Target="/ppt/media/image.svg" Id="Rb7831a2f1ed044e9" /><Relationship Type="http://schemas.openxmlformats.org/officeDocument/2006/relationships/image" Target="/ppt/media/image.png" Id="Rc6ce23d455fd4b76" /><Relationship Type="http://schemas.openxmlformats.org/officeDocument/2006/relationships/notesSlide" Target="/ppt/notesSlides/notesSlide4.xml" Id="R6ce3f0576bdd44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e48f6d5be4303" /><Relationship Type="http://schemas.openxmlformats.org/officeDocument/2006/relationships/notesSlide" Target="/ppt/notesSlides/notesSlide5.xml" Id="Rf71d374f39c842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e5424ebc34cd8" /><Relationship Type="http://schemas.openxmlformats.org/officeDocument/2006/relationships/notesSlide" Target="/ppt/notesSlides/notesSlide6.xml" Id="R94d9079b58ac4e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85e7ca8234bf4" /><Relationship Type="http://schemas.openxmlformats.org/officeDocument/2006/relationships/notesSlide" Target="/ppt/notesSlides/notesSlide7.xml" Id="R888ed30746934a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9926eda0c4f4e" /><Relationship Type="http://schemas.openxmlformats.org/officeDocument/2006/relationships/notesSlide" Target="/ppt/notesSlides/notesSlide8.xml" Id="R63db8343a1884c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BAE218-DDC2-417B-90E8-B55AD2F7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DEA0C-A330-4B14-98C2-60D9B0E0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5C2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5C2FF"/>
                </a:solidFill>
                <a:latin typeface="Consolas"/>
                <a:ea typeface="Consolas"/>
                <a:cs typeface="Consolas"/>
              </a:rPr>
              <a:t>TEAM 5 · LG SW ARCHITECT FINAL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BB1EB-8BCC-49A1-938D-0033578D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TimeGrapher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2DEC2-DB5B-4205-9370-B1CE7DB4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Real-time mechanical watch measurement on Windows and Raspberry Pi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805DD-012B-4CC5-9703-951DB7DB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9FC"/>
                </a:solidFill>
                <a:latin typeface="Aptos"/>
                <a:ea typeface="Aptos"/>
                <a:cs typeface="Aptos"/>
              </a:rPr>
              <a:t>Accuracy first · One codebase · Measured on target hardware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E9E8A-61B5-4FF2-B688-F16200F2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763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1C687-CD79-43A1-8AEF-97AD05D8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62100"/>
            <a:ext cx="2057400" cy="2057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1B"/>
          </a:solidFill>
          <a:ln xmlns:a="http://schemas.openxmlformats.org/drawingml/2006/main" w="38100">
            <a:solidFill>
              <a:srgbClr val="A500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D4C5F-D0EE-4B3A-95E9-E9DA2C55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7F9FC"/>
                </a:solidFill>
                <a:latin typeface="Consolas"/>
                <a:ea typeface="Consolas"/>
                <a:cs typeface="Consolas"/>
              </a:defRPr>
            </a:pPr>
            <a:r>
              <a:rPr sz="3600" b="1">
                <a:solidFill>
                  <a:srgbClr val="F7F9FC"/>
                </a:solidFill>
                <a:latin typeface="Consolas"/>
                <a:ea typeface="Consolas"/>
                <a:cs typeface="Consolas"/>
              </a:rPr>
              <a:t>+/- 1.0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3CEA9-8FFF-4F1D-B2D9-1EBEBA3D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956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5C2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5C2FF"/>
                </a:solidFill>
                <a:latin typeface="Aptos"/>
                <a:ea typeface="Aptos"/>
                <a:cs typeface="Aptos"/>
              </a:rPr>
              <a:t>s/d · QAS-1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D5D88-D538-4EA7-B19F-4A5B6CEE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3870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E9ECA-AAFC-4A96-84A2-8396ABDB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435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9FC"/>
                </a:solidFill>
                <a:latin typeface="Aptos"/>
                <a:ea typeface="Aptos"/>
                <a:cs typeface="Aptos"/>
              </a:rPr>
              <a:t>Demo first, then architecture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935B8-624D-40AE-9CC5-DED4045F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2512B-F6E5-4FCA-BBF4-026C1B5A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581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58194"/>
                </a:solidFill>
                <a:latin typeface="Aptos"/>
                <a:ea typeface="Aptos"/>
                <a:cs typeface="Aptos"/>
              </a:rPr>
              <a:t>Sources: Final presentation script; QAS-1/QAS-2 in Architectural Drivers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08CD9-E203-4A3D-B3E3-37273795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AAB3C2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AAB3C2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35C55-70D5-4593-9C1B-FA449FBA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547687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3554A2-4148-43B9-8AC8-297555E0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5C2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5C2FF"/>
                </a:solidFill>
                <a:latin typeface="Consolas"/>
                <a:ea typeface="Consolas"/>
                <a:cs typeface="Consolas"/>
              </a:rPr>
              <a:t>IMPLEMENTED PROGRAM SURFACE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2064F-83B8-415C-9A68-8F27DC8D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Live mic / WAV playback / simulation inputs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Required displays: Rate/Scope, Beat Error, Trace, Vario, Long-Term, Sweep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Positions, Beat Noise, Waveforms, Filter Scope, Sound Print, Spectrogram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Runtime behavior: A/C sync, signal-quality warnings, latency/status recovery</a:t>
            </a:r>
          </a:p>
        </p:txBody>
      </p:sp>
    </p:spTree>
    <p:extLst>
      <p:ext uri="{BB962C8B-B14F-4D97-AF65-F5344CB8AC3E}">
        <p14:creationId xmlns:p14="http://schemas.microsoft.com/office/powerpoint/2010/main" val="4220481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DB5B0D-AEE0-44E7-9470-BC8A33A0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F02E4-8039-4900-A7AB-1ED4F2B6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5C2F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5C2FF"/>
                </a:solidFill>
                <a:latin typeface="Consolas"/>
                <a:ea typeface="Consolas"/>
                <a:cs typeface="Consolas"/>
              </a:rPr>
              <a:t>ADR-001 · PLATFORM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AF706-F83D-4440-B74D-3FA94710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From Qt/C++ to Avalonia/.NET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75950-51A2-49F5-89A1-20E80458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A deliberate stack choice: maintainability and one codebase over preserving the original implementation stack.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11B97-2853-4CAA-A796-9FF0539B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E980C-C838-4CBC-8422-869E4FDC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581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58194"/>
                </a:solidFill>
                <a:latin typeface="Aptos"/>
                <a:ea typeface="Aptos"/>
                <a:cs typeface="Aptos"/>
              </a:rPr>
              <a:t>Sources: FinalDemo scripts; Milestone/en SW Architect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C7506-5EB3-4000-AEA7-4D5F88B1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AAB3C2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AAB3C2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E6777-5B77-4C62-8A0A-02556B1B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05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EB540-FC87-40B6-849D-53E072CA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Original pressure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10DA0-2E57-4568-90B9-43077D36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86025"/>
            <a:ext cx="252412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Qt/C++ created team-skill, LGPL compliance, manual memory, and platform-build risks.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C8103-4369-4DCF-9DB2-967A51B1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762250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FABB2-D09D-4304-8138-5D159AC6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52625"/>
            <a:ext cx="2905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1FC10-C7D4-4D25-B7F1-97CD9645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24075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5C2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5C2FF"/>
                </a:solidFill>
                <a:latin typeface="Aptos Display"/>
                <a:ea typeface="Aptos Display"/>
                <a:cs typeface="Aptos Display"/>
              </a:rPr>
              <a:t>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B02DF-5CB5-4348-8676-30B3EE9F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86025"/>
            <a:ext cx="252412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Avalonia + .NET 8 + C# gives one source tree, Skia rendering, and a stack the team can maintain.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A50C6-418C-49F6-99D8-39BDFBEC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62250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AFCEF-72A1-4CDE-83B7-853D3CA5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952625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C3253-EBC9-4098-9284-B3338874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12407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3D18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3D18A"/>
                </a:solidFill>
                <a:latin typeface="Aptos Display"/>
                <a:ea typeface="Aptos Display"/>
                <a:cs typeface="Aptos Display"/>
              </a:rPr>
              <a:t>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36805-3BDB-4DE3-9934-94DF937F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86025"/>
            <a:ext cx="157162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Windows x64 and Raspberry Pi ARM64 builds share the same Core and UI logic.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0D7BB9-F211-4B8C-8320-86D32E5E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Rejected alternatives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967E8A-7EA6-44CE-9F02-80D57645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72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B7AA92-321B-4BCD-828F-0F5D3C3C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1011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9FC"/>
                </a:solidFill>
                <a:latin typeface="Aptos"/>
                <a:ea typeface="Aptos"/>
                <a:cs typeface="Aptos"/>
              </a:rPr>
              <a:t>Keep Qt/C++: weak team fit + LGPL/build complexity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BDF62D-148F-4210-B33E-F89C02DE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D1EF60-344E-4351-99A6-7302254F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00675"/>
            <a:ext cx="1011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9FC"/>
                </a:solidFill>
                <a:latin typeface="Aptos"/>
                <a:ea typeface="Aptos"/>
                <a:cs typeface="Aptos"/>
              </a:rPr>
              <a:t>.NET MAUI: weak Linux desktop/embedded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A5BF35-E35B-4D80-A6A4-B42DCFE4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7D59E6-51E4-481A-9787-3109AD32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05475"/>
            <a:ext cx="1011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9FC"/>
                </a:solidFill>
                <a:latin typeface="Aptos"/>
                <a:ea typeface="Aptos"/>
                <a:cs typeface="Aptos"/>
              </a:rPr>
              <a:t>Electron: Chromium footprint too heavy for embedded target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19CDF9-FA39-43C6-B0EA-AB11ABC3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C319BE-9BBE-4379-A0E2-CBB36558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10275"/>
            <a:ext cx="1011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9FC"/>
                </a:solidFill>
                <a:latin typeface="Aptos"/>
                <a:ea typeface="Aptos"/>
                <a:cs typeface="Aptos"/>
              </a:rPr>
              <a:t>Flutter: Dart mismatch with team skill</a:t>
            </a:r>
          </a:p>
        </p:txBody>
      </p:sp>
    </p:spTree>
    <p:extLst>
      <p:ext uri="{BB962C8B-B14F-4D97-AF65-F5344CB8AC3E}">
        <p14:creationId xmlns:p14="http://schemas.microsoft.com/office/powerpoint/2010/main" val="1297852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5D2522-20C9-45B0-9C0E-2AE73AF9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8D673-9042-4F9C-ABF6-A62A106B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5C2F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5C2FF"/>
                </a:solidFill>
                <a:latin typeface="Consolas"/>
                <a:ea typeface="Consolas"/>
                <a:cs typeface="Consolas"/>
              </a:rPr>
              <a:t>ARCHITECTURE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EB2CC-2FDD-4AB8-B03C-D1912A2E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Core isolation is enforced, not just drawn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9F680-95C6-4857-917B-B309D53C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App and platform adapters depend on Core; Core never depends on UI, OS, or audio libraries.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CF377-4636-404D-9D69-56587E72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D2512-1DB4-4E66-8D04-778088C8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581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58194"/>
                </a:solidFill>
                <a:latin typeface="Aptos"/>
                <a:ea typeface="Aptos"/>
                <a:cs typeface="Aptos"/>
              </a:rPr>
              <a:t>Sources: FinalDemo scripts; Milestone/en SW Architect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005DA-ADAB-4B46-BADF-1EC14113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AAB3C2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AAB3C2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5999dc2ff4e5c"/>
          <a:stretch xmlns:a="http://schemas.openxmlformats.org/drawingml/2006/main"/>
        </p:blipFill>
        <p:spPr>
          <a:xfrm xmlns:a="http://schemas.openxmlformats.org/drawingml/2006/main">
            <a:off x="514350" y="2354783"/>
            <a:ext cx="5667375" cy="243418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C2CAE-3828-4B72-8696-8AEE4024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2880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7B0B4-0CAC-4AB5-8117-B1EDF005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00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5C2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5C2FF"/>
                </a:solidFill>
                <a:latin typeface="Aptos Display"/>
                <a:ea typeface="Aptos Display"/>
                <a:cs typeface="Aptos Display"/>
              </a:rPr>
              <a:t>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A771C-185B-4212-8F9C-9631047A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622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Detection, metrics, imaging, simulator. Zero UI/platform dependency.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1B4AA-F97F-40F7-9748-C3ECE05D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2880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1C97E-BF24-419A-A2BF-3C3B91DD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00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CBCA5-D049-4482-9A87-41532479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622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Avalonia UI renders frames and user controls without owning measurement logic.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D4D20-98FC-4298-A9FD-10051149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035BD-0F2C-4803-981B-CF4E3C6C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19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537E8-65CA-4880-A69D-69B35891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814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WindowsAudio and LinuxAudio isolate WASAPI vs ALSA/PipeWire.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D32268-A6D9-4E3E-901F-395F3A5F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480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783CDC-3472-4A01-B772-5FCD4C95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19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3D18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3D18A"/>
                </a:solidFill>
                <a:latin typeface="Aptos Display"/>
                <a:ea typeface="Aptos Display"/>
                <a:cs typeface="Aptos Display"/>
              </a:rPr>
              <a:t>CI 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F813F-D245-4F87-BE14-02D74820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814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Build fails if Core imports UI/platform dependencies or wrong adapter is bundled.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0C0BCB-8031-443B-AB89-9D411E62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91125"/>
            <a:ext cx="2076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6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F96431-F9E3-4641-9530-FB1C9068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4827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ADR-003 · MVVM where it helps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67F90F-444D-4BD8-BFBD-2D178E28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91125"/>
            <a:ext cx="2266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6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BAB4E1-934D-4408-8E6E-4421BC17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48275"/>
            <a:ext cx="2076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ADR-004 · App/Test/Verify split</a:t>
            </a:r>
          </a:p>
        </p:txBody>
      </p:sp>
    </p:spTree>
    <p:extLst>
      <p:ext uri="{BB962C8B-B14F-4D97-AF65-F5344CB8AC3E}">
        <p14:creationId xmlns:p14="http://schemas.microsoft.com/office/powerpoint/2010/main" val="4982872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F05E52-736A-42D1-8308-61E467B0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EA76A-738D-4045-ACC3-EC3D514E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5C2F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5C2FF"/>
                </a:solidFill>
                <a:latin typeface="Consolas"/>
                <a:ea typeface="Consolas"/>
                <a:cs typeface="Consolas"/>
              </a:rPr>
              <a:t>AREA 3 · QUALITY ATTRIBUTES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D7E9E-2BD9-455D-8BC2-8DDD0550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Measurable QAS, explicit tradeoffs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923F9-9625-4B6E-A46E-4DA4CDD3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Quality goals became pass/fail scenarios and documented tradeoffs.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3DB96-B828-4329-BCF0-B1839896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DF0D7-16D4-470A-B6D8-B98B8F1C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581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58194"/>
                </a:solidFill>
                <a:latin typeface="Aptos"/>
                <a:ea typeface="Aptos"/>
                <a:cs typeface="Aptos"/>
              </a:rPr>
              <a:t>Sources: Milestone/en/2-Architectural-Drivers.md (QAS-1..6)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9EE62-91E3-4CE4-A236-30396C88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AAB3C2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AAB3C2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477B7-7ED6-44E2-91DD-EECD1349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3891D-E242-4710-A1F3-EC34E151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QAS-1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A1B2D-3CC1-47A3-9349-991F8DCB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240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9FC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F248F-5028-4ECD-9C38-0A5F91E9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430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+/- 1.0 s/d over 1,000 beats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B6267-9C63-4208-AE41-5AD91E92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5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ED480-1F08-490B-95D5-00A85A45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717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QAS-2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1FCFD4-2D5D-494F-973A-0F69B6FF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33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9FC"/>
                </a:solidFill>
                <a:latin typeface="Aptos"/>
                <a:ea typeface="Aptos"/>
                <a:cs typeface="Aptos"/>
              </a:rPr>
              <a:t>Latency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71562-EA30-4667-A0BF-EBC1859D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52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&lt;= one beat period, 83.3 ms top 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0C82C-3514-4414-B6BF-190D619D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7BA3E-DB09-4544-B3C5-6D780536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813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QAS-3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DD89AC-5211-4303-B42B-36D58E7A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43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9FC"/>
                </a:solidFill>
                <a:latin typeface="Aptos"/>
                <a:ea typeface="Aptos"/>
                <a:cs typeface="Aptos"/>
              </a:rPr>
              <a:t>Noisy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E3B8F8-8DB1-4CD0-91F5-83B284F5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622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&gt;=95% detection at SNR &gt;=30 dB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5A310E-9DD9-4DE3-BAB1-91A4855F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3D1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9C871C-83E1-4BCC-A8D8-95730D21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QAS-4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0C6671-6D6D-4F6E-8A1F-E9CF55B7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528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9FC"/>
                </a:solidFill>
                <a:latin typeface="Aptos"/>
                <a:ea typeface="Aptos"/>
                <a:cs typeface="Aptos"/>
              </a:rPr>
              <a:t>Consistency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CDDD5D-DD6A-423C-BC25-198B409E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718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0 display mismatches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29B5E-1D52-436F-9C77-DCAEEE9A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7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C23066-D82E-4714-8317-F804B53A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005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QAS-5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6E66AD-3FA6-4025-BC0C-D1190692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624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9FC"/>
                </a:solidFill>
                <a:latin typeface="Aptos"/>
                <a:ea typeface="Aptos"/>
                <a:cs typeface="Aptos"/>
              </a:rPr>
              <a:t>Modifiability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510FA5-78ED-48D7-9AF9-7292B901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814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&lt;=1 existing module changed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0E0A92-8AFF-46AB-A1CF-F3D96103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72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B2FBD8-E9FC-43E6-8ED8-8C476416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QAS-6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C8DFF7-B0E1-4C53-9477-549F0E45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720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9FC"/>
                </a:solidFill>
                <a:latin typeface="Aptos"/>
                <a:ea typeface="Aptos"/>
                <a:cs typeface="Aptos"/>
              </a:rPr>
              <a:t>Touch UI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322B1B-4120-46D5-82CE-242F3804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910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2.9 mm letters / 9 mm targets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5A53CB-0C31-45D1-AA31-23F8B37A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33550"/>
            <a:ext cx="40767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70DC49-2857-41A2-A5FB-00AF84AF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716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Accuracy-first tradeoffs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1E6344-9B4E-48C0-A425-145507FB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05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E0A194-D845-4C2A-8ADB-3B6AB663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28875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9FC"/>
                </a:solidFill>
                <a:latin typeface="Aptos"/>
                <a:ea typeface="Aptos"/>
                <a:cs typeface="Aptos"/>
              </a:rPr>
              <a:t>Longer warm-up before trusting early rate/BPH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8C92E0-9343-4D3A-89D8-E6F40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24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AE7880-BAE8-4191-A4F6-8D25A346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47975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9FC"/>
                </a:solidFill>
                <a:latin typeface="Aptos"/>
                <a:ea typeface="Aptos"/>
                <a:cs typeface="Aptos"/>
              </a:rPr>
              <a:t>Higher sample rate improves timestamps but increases load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7BA3C9-0A7C-4378-A2E0-73AA653D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43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929B52-10E4-48E0-8BB5-309626CB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67075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9FC"/>
                </a:solidFill>
                <a:latin typeface="Aptos"/>
                <a:ea typeface="Aptos"/>
                <a:cs typeface="Aptos"/>
              </a:rPr>
              <a:t>Worker-level Pipe-and-Filter, not full hot-path splitting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ED20A7-28F8-477F-9CE4-41C2FD0F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62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EE8C9D-7B0B-4B3B-A024-82DE09A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86175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9FC"/>
                </a:solidFill>
                <a:latin typeface="Aptos"/>
                <a:ea typeface="Aptos"/>
                <a:cs typeface="Aptos"/>
              </a:rPr>
              <a:t>Latest-Wins may skip visual frames, never measurements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e23d455fd4b76">
            <a:extLst>
              <a:ext uri="{96DAC541-7B7A-43D3-8B79-37D633B846F1}">
                <asvg:svgBlip xmlns:asvg="http://schemas.microsoft.com/office/drawing/2016/SVG/main" r:embed="Rb7831a2f1ed044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15125" y="4572000"/>
            <a:ext cx="4476750" cy="1123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500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195C1D-42A2-47BA-AA21-EB5B6CCE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C5155-5837-48B9-99ED-F9D54BB7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5C2F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5C2FF"/>
                </a:solidFill>
                <a:latin typeface="Consolas"/>
                <a:ea typeface="Consolas"/>
                <a:cs typeface="Consolas"/>
              </a:rPr>
              <a:t>AREA 4 · PERFORMANCE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58182-83F7-48BA-9682-F6F1DE1C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Real-time on Pi 5 has measured margin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3805A-CC48-4AC5-A023-6F770954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Values quoted from 4-Planned-Experiments.md (EXP-02/EXP-05), preserving conditions and pass criteria.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D72FE-8729-4944-A912-A4C725F0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7E58B-93A8-43E2-A7D3-4E11179D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581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58194"/>
                </a:solidFill>
                <a:latin typeface="Aptos"/>
                <a:ea typeface="Aptos"/>
                <a:cs typeface="Aptos"/>
              </a:rPr>
              <a:t>Sources: Milestone/en/4-Planned-Experiments.md (EXP-02, EXP-05)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0CF93-DA6C-4108-A5AA-06BC8121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AAB3C2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AAB3C2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BDFED-1440-4386-AB58-173BEB86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9FC"/>
                </a:solidFill>
                <a:latin typeface="Aptos"/>
                <a:ea typeface="Aptos"/>
                <a:cs typeface="Aptos"/>
              </a:rPr>
              <a:t>EXP-02 Results &amp; Decisions: RPi5 real-time sample-rate ceiling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A2A38-FEFE-4D85-9F82-E9A3E7F6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33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D48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54D487"/>
                </a:solidFill>
                <a:latin typeface="Consolas"/>
                <a:ea typeface="Consolas"/>
                <a:cs typeface="Consolas"/>
              </a:rPr>
              <a:t>0/0 all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CDDF4-8F81-4866-93FE-42D745B3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9467850" cy="2181225"/>
          </a:xfrm>
          <a:prstGeom xmlns:a="http://schemas.openxmlformats.org/drawingml/2006/main" prst="roundRect">
            <a:avLst>
              <a:gd name="adj" fmla="val 3493"/>
            </a:avLst>
          </a:prstGeom>
          <a:solidFill xmlns:a="http://schemas.openxmlformats.org/drawingml/2006/main">
            <a:srgbClr val="0F151E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47614-86EB-4D1E-A5AD-51DC22EF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219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2D3A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66F80-A037-4DC0-810D-3FABA32A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43125"/>
            <a:ext cx="108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C2FF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5C2FF"/>
                </a:solidFill>
                <a:latin typeface="Consolas"/>
                <a:ea typeface="Consolas"/>
                <a:cs typeface="Consolas"/>
              </a:rPr>
              <a:t>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2FC76-A6A5-4002-B222-08431517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76450"/>
            <a:ext cx="1866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2D3A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3FAD6-2892-4A5A-BFE2-F2C941D2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143125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C2FF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5C2FF"/>
                </a:solidFill>
                <a:latin typeface="Consolas"/>
                <a:ea typeface="Consolas"/>
                <a:cs typeface="Consolas"/>
              </a:rPr>
              <a:t>Condition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16C94D-F0EB-43D3-8FCB-58DB53A6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76450"/>
            <a:ext cx="1047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2D3A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0FDC3-1BA1-4413-B218-B5CF0106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143125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C2FF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5C2FF"/>
                </a:solidFill>
                <a:latin typeface="Consolas"/>
                <a:ea typeface="Consolas"/>
                <a:cs typeface="Consolas"/>
              </a:rPr>
              <a:t>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65A3D-71D1-4611-914F-F65976CB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76450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2D3A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1CB85-2102-4FFC-A225-2ED28AE4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143125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C2FF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5C2FF"/>
                </a:solidFill>
                <a:latin typeface="Consolas"/>
                <a:ea typeface="Consolas"/>
                <a:cs typeface="Consolas"/>
              </a:rPr>
              <a:t>E2E worst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AEC2E3-46D4-4F37-BC31-5D4F6758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76450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2D3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BFAE4C-F135-4393-9CFA-6BECC057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43125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C2FF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5C2FF"/>
                </a:solidFill>
                <a:latin typeface="Consolas"/>
                <a:ea typeface="Consolas"/>
                <a:cs typeface="Consolas"/>
              </a:rPr>
              <a:t>Budget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C2A0F-0D2B-487C-B476-53C7BE1D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990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2D3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0C1EF5-0CD1-4579-B28B-139950B6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1431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C2FF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5C2FF"/>
                </a:solidFill>
                <a:latin typeface="Consolas"/>
                <a:ea typeface="Consolas"/>
                <a:cs typeface="Consolas"/>
              </a:rPr>
              <a:t>Usage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937AFD-B067-4BAC-84C2-83F1D56D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76450"/>
            <a:ext cx="971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2D3A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345D4D-EB55-45D1-8BF0-A27FE224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43125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C2FF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5C2FF"/>
                </a:solidFill>
                <a:latin typeface="Consolas"/>
                <a:ea typeface="Consolas"/>
                <a:cs typeface="Consolas"/>
              </a:rPr>
              <a:t>Drop/Miss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086B06-BF49-4FED-8ED3-E2750030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76450"/>
            <a:ext cx="742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2D3A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A837DA-FDB9-4BF1-8D65-001C9281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143125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C2FF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5C2FF"/>
                </a:solidFill>
                <a:latin typeface="Consolas"/>
                <a:ea typeface="Consolas"/>
                <a:cs typeface="Consolas"/>
              </a:rPr>
              <a:t>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ACEB80-1AF6-4A53-A3F2-6DCAEBA1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1219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5B334D-B797-4CCB-B65E-21F68F28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38400"/>
            <a:ext cx="108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2026-06-11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37912B-7460-474E-90C1-70CEF51B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71725"/>
            <a:ext cx="1866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E22691-BE4F-4EDA-8C74-5589CD11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43840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21600 BPH @ 48 kHz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56E2E4-3174-44DA-8B97-D48A4AAE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71725"/>
            <a:ext cx="1047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AE6709-7F28-48FE-A539-137B376A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4384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Simulation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37F652-0D2E-44B8-87CB-02AADE2F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71725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17D4DD-9E5D-4BB8-A2D8-C71A88BA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43840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41.975 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844ECE-ED89-45F7-9486-9EB2EE95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71725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69F858-EFF9-46C6-B120-2741D91C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3840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166.667 ms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5C01D6-92BB-4F1D-946A-6B157BCE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71725"/>
            <a:ext cx="990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2EF5AC-83C7-4638-AC96-95089DEA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384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25.2%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E9513F-CC9C-45F5-9C09-16C6C742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71725"/>
            <a:ext cx="971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54CCA7-B5D3-44D1-8A3C-3D2549AA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384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0 / 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B04900-5038-4DA7-845C-218D8708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71725"/>
            <a:ext cx="742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0EB900-125C-442C-8158-2EE90AA0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4384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4D4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4D487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64EA5D-963D-4436-8A00-B925A9A5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219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7D807A-AF19-4DF6-9AEE-A2F17D75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33675"/>
            <a:ext cx="108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2026-06-11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7FF105-2E37-4B06-A699-0DC22E32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67000"/>
            <a:ext cx="1866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A16D4B-126D-45FB-9311-2882A425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733675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21600 BPH @ 48 kHz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AD1FB5-1122-4CF5-97BA-A42B620F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67000"/>
            <a:ext cx="1047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F3F12B-B66E-4B3C-A97B-CC1FCE7C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733675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Playback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055D1A-C67E-4023-9381-4DE8FCD0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67000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030722-275F-48A1-B800-A3DD38FB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33675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43.939 ms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DC61AA-0E23-4FC8-9974-A95BD263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67000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1DA7B3-4032-49C0-97C4-77184851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33675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166.667 ms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1D4C67-3B88-453E-B3CB-19BA28B9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67000"/>
            <a:ext cx="990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10B018-8775-454F-804B-BEA59A33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73367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26.4%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AC773A-FA28-4115-8F0D-AEF3691C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971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B43560-D536-416E-9027-B0B932E2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733675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0 / 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34988C-AA9E-4419-BA9F-123DF31F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67000"/>
            <a:ext cx="742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83C2BC5-3D6E-4BA0-9F81-7F3BD2B1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733675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4D4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4D487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19D1D7-55F1-4DCB-9096-AEDAF525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219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E652F10-E308-43A6-9AD6-BD51437A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28950"/>
            <a:ext cx="108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2026-06-11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4EF4E0D-0B98-4A42-9198-479A9FEE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62275"/>
            <a:ext cx="1866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BCCE5C-AC97-4141-AF8B-DD87B926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02895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21600 BPH @ 48 kHz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2C5E783-19FE-4E4A-9298-C45E16F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62275"/>
            <a:ext cx="1047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4671FE-7A23-47A1-97C5-43F637F8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02895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0006C83-06AA-4C1C-B330-88F4ED99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62275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9FC2222-FB60-42F6-B088-FB287AE1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2895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40.378 ms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1AFCF0-F145-462C-A88A-84DBD132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62275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6DE26A0-3D8C-4550-BF6C-EAA613DB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2895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166.667 ms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BCBBA52-0FD2-4F01-9098-5CFD88C9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62275"/>
            <a:ext cx="990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CD49F4-4327-47B3-B855-511CEAE3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2895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24.2%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802F8C8-01B1-411A-9DF2-EBBDDD19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62275"/>
            <a:ext cx="971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5187FB5-5159-4EDE-A3F9-1B6D2913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02895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0 / 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C7C529C-66AF-44CD-A415-0D8D5C0D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62275"/>
            <a:ext cx="742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7DFA3BA-50CA-4570-8E67-4493CA36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02895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4D4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4D487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176F447-CE3C-4CB5-9EED-22AF36F6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219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EE7CC9E-5671-47BD-9111-C75A07B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24225"/>
            <a:ext cx="108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2026-06-11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F98D859-8C19-4D20-87B0-EE5CF220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57550"/>
            <a:ext cx="1866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DD4AE21-F341-498F-8884-D103419A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324225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43200 BPH @ 192 kHz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A9D81FB-DA15-4EA0-B527-016DF744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57550"/>
            <a:ext cx="1047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415EEB7-90F8-4F70-99F7-371774FA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324225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Simulation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2EED887-E7D9-43EB-80DF-86210F68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57550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9543613-0B25-4F61-A1F6-F58CAF76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324225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34.003 ms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3A1D803-5F11-42D7-9D07-6B9C955E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57550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AA3C8D3-BFC8-4B12-BFB8-80DB04EA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24225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83.333 ms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3C2426B-55A3-429E-9FD0-E4B63F66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990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31BE91C-65A9-4D5D-AA8B-03CD224F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3242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40.8%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131F24A-924B-430A-9409-914CCD99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971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8211CA5-664F-4AF3-9914-AAF781B8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324225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0 / 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EAB2461-AB69-4B64-86CC-88683D9D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57550"/>
            <a:ext cx="742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BD8A557-064D-4FB2-9A16-7DE46B45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324225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4D4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4D487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7CC4E7D-EA39-4C00-AA1A-A2110C65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219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ADA8C85-F56D-41B4-A893-A1775656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19500"/>
            <a:ext cx="108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2026-06-11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00C1B08-0585-419D-82D9-8BBDD8E1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52825"/>
            <a:ext cx="1866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62191DA-81E9-4210-AA1A-A46BA361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61950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43200 BPH @ 192 kHz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5FF1B46-FD9B-48AF-A438-B6116987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52825"/>
            <a:ext cx="1047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C31DDD6-4D07-4C6B-9124-07DBA7A6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6195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Playback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B3F6954-FDBA-42BB-93BF-DFE9ADE5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52825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5F7DF8F-DFCA-4011-912C-FCC5B151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61950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34.562 ms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C48B11E-965E-4050-B183-A5CDCE79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52825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062850E-72D7-4260-B5BC-0B9320FD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1950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83.333 ms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4F7B38C-0108-471F-8594-2849F41E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52825"/>
            <a:ext cx="990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878031A-9145-49F4-B424-52212D21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6195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41.5%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EAC194F-6202-4DC8-95D3-7B3EE01E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52825"/>
            <a:ext cx="971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789DC9A-3941-4BE1-BB2A-30DEE12F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6195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0 / 0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852C9C6-3B7E-4246-9CE8-46162FB7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52825"/>
            <a:ext cx="742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3A28082-A3E5-491D-909E-3F97A6B0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6195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4D4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4D487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2276A75-C41B-4534-A635-671B6583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219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18AECF7-8EFE-4073-B2A7-D4E24F0A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14775"/>
            <a:ext cx="108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2026-06-21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757DDE9-60B1-4FAB-B107-ACAA0F21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48100"/>
            <a:ext cx="1866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468F418-5F26-40A2-9B1D-4DDB9760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914775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43200 BPH @ 192 kHz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92B3AD1-196F-4063-A4FF-D62ACE06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48100"/>
            <a:ext cx="1047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0F41BA2-62D0-48E3-AAF0-9CA67E8D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914775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Simulation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5A8AAB6-B32E-447C-B8A0-DD4959FF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48100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AFDF938-BB37-4737-A3DF-240F46FD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14775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36.46 ms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2722D75-C954-442A-B958-27F83A52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48100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8379DD2-864A-457E-8E45-D70B5717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914775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83.333 ms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3E8E5FD-16A6-430A-968D-7E2EA312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48100"/>
            <a:ext cx="990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4EF1D05-3D67-4CBA-8FA8-0CC84262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91477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43.8%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59FAE09-A9B6-49FE-9428-71EC9B11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48100"/>
            <a:ext cx="971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D54C743-AD7B-4F55-B663-1B930A81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14775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5E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DDE5EF"/>
                </a:solidFill>
                <a:latin typeface="Consolas"/>
                <a:ea typeface="Consolas"/>
                <a:cs typeface="Consolas"/>
              </a:rPr>
              <a:t>0 / 0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4BCE95C-2307-4FE0-8331-6C26367A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48100"/>
            <a:ext cx="742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6B8BFB2-3EE3-49C7-AFB4-5CDABE62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914775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4D4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4D487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31BAF92-78BC-4DC3-B35E-FC6FCD07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571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D3A4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82B925E-A5F2-4CC4-9240-9A14BF64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C2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5C2FF"/>
                </a:solidFill>
                <a:latin typeface="Aptos"/>
                <a:ea typeface="Aptos"/>
                <a:cs typeface="Aptos"/>
              </a:rPr>
              <a:t>EXP-02 decision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B9BC28E-5C31-4CD1-84FC-8657A773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5302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2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8C2D0"/>
                </a:solidFill>
                <a:latin typeface="Aptos"/>
                <a:ea typeface="Aptos"/>
                <a:cs typeface="Aptos"/>
              </a:rPr>
              <a:t>Base at 48 kHz; top support at 192 kHz. 192 kHz is confirmed within budget.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847FE5E-06E3-4DE2-A6AB-67A1E321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86300"/>
            <a:ext cx="2571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D3A4A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9E67738-BDCA-4FE6-9FCC-BAD49589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577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C2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5C2FF"/>
                </a:solidFill>
                <a:latin typeface="Aptos"/>
                <a:ea typeface="Aptos"/>
                <a:cs typeface="Aptos"/>
              </a:rPr>
              <a:t>Current all-tab check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FF6E102-4548-4A6B-9F24-AACF9648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5302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2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8C2D0"/>
                </a:solidFill>
                <a:latin typeface="Aptos"/>
                <a:ea typeface="Aptos"/>
                <a:cs typeface="Aptos"/>
              </a:rPr>
              <a:t>2026-06-21 43200@192k Simulation: 36.46 ms / 83.333 ms = 43.8%.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5A479C6-B68F-47A7-A88D-51B6312E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86300"/>
            <a:ext cx="2571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D3A4A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50A9865-2F75-4F63-A512-2089F523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577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C2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5C2FF"/>
                </a:solidFill>
                <a:latin typeface="Aptos"/>
                <a:ea typeface="Aptos"/>
                <a:cs typeface="Aptos"/>
              </a:rPr>
              <a:t>Drop / miss result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5010BF4-ACFB-48EC-BBAE-6F040855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5302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2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8C2D0"/>
                </a:solidFill>
                <a:latin typeface="Aptos"/>
                <a:ea typeface="Aptos"/>
                <a:cs typeface="Aptos"/>
              </a:rPr>
              <a:t>All EXP-02 rows show Drop 0, Miss 0, and Result Pass.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AF757D3-C7D1-46DC-8196-9D0C0BA8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86300"/>
            <a:ext cx="2571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D3A4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37324CA-E4E9-4CA4-9E0D-317F3682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E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BE4D"/>
                </a:solidFill>
                <a:latin typeface="Aptos"/>
                <a:ea typeface="Aptos"/>
                <a:cs typeface="Aptos"/>
              </a:rPr>
              <a:t>EXP-05 stability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78F333E-E082-429C-87DC-EFBDDD94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5302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2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8C2D0"/>
                </a:solidFill>
                <a:latin typeface="Aptos"/>
                <a:ea typeface="Aptos"/>
                <a:cs typeface="Aptos"/>
              </a:rPr>
              <a:t>24h run: RSS ~406 MB, CPU ~36% of 4-core capacity. Re-run for new AI/filter load.</a:t>
            </a:r>
          </a:p>
        </p:txBody>
      </p:sp>
    </p:spTree>
    <p:extLst>
      <p:ext uri="{BB962C8B-B14F-4D97-AF65-F5344CB8AC3E}">
        <p14:creationId xmlns:p14="http://schemas.microsoft.com/office/powerpoint/2010/main" val="18083095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57ECC2-947A-4D16-8F15-517196D1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F7F4A-0F5C-45DE-BD7E-DD26572E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5C2F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5C2FF"/>
                </a:solidFill>
                <a:latin typeface="Consolas"/>
                <a:ea typeface="Consolas"/>
                <a:cs typeface="Consolas"/>
              </a:rPr>
              <a:t>AREA 4 · CORRECTNESS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9A9E1-6075-4018-A1E8-21E5E011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Accuracy is live behavior plus regression guards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C9397-452E-473F-865D-2F048C4B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CI supports the claim; it does not replace live/reference validation.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D051B-8511-45D2-9966-564306F6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9CC6E-9D5F-4B74-9867-749EF0FE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581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58194"/>
                </a:solidFill>
                <a:latin typeface="Aptos"/>
                <a:ea typeface="Aptos"/>
                <a:cs typeface="Aptos"/>
              </a:rPr>
              <a:t>Sources: FinalDemo scripts; Milestone/en SW Architect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E8D4B-E7AD-44BB-8D3B-555AAE31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AAB3C2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AAB3C2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FB800-429A-432D-989D-7CF7E2D7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C8205-DB5C-4D88-B7EE-359C813F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335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5C2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5C2FF"/>
                </a:solidFill>
                <a:latin typeface="Aptos Display"/>
                <a:ea typeface="Aptos Display"/>
                <a:cs typeface="Aptos Display"/>
              </a:rPr>
              <a:t>1 · Runtime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9A5CC-D516-4534-8308-2470F557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95525"/>
            <a:ext cx="295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Adaptive floor, PLL onset gating, regime guard, detection-gap handling, and rate warm-up protect timing before numbers are shown.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42BEC-97A7-421B-8340-092AF949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62125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4BE82-BF89-4544-BBE6-F2FBE774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335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3D18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3D18A"/>
                </a:solidFill>
                <a:latin typeface="Aptos Display"/>
                <a:ea typeface="Aptos Display"/>
                <a:cs typeface="Aptos Display"/>
              </a:rPr>
              <a:t>2 · Reference comparison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B6FBC-4BD4-4904-A47E-E1F54254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95525"/>
            <a:ext cx="295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Same watch on TimeGrapher and a commercial timegrapher/Chronoscope. Explain differences scientifically.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CDE4A-EAD7-4205-8944-AA74EA80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62125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65EBF-5344-45C6-AEF7-D7993BF9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335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3 · Verify / CI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DF7A8-FCEB-4E48-A862-6B57EDC0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95525"/>
            <a:ext cx="295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Generated fixtures and adverse scenarios guard BPH, event precision/recall, and regression under weak/noisy inputs.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9448F-FD66-41BF-8A1B-7411CDBB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EXP-06 tolerance targets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BA999-2DDF-4339-AE20-73813904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2476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20263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31BE00-6520-4FB5-935B-4246FB77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7F9FC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7F9FC"/>
                </a:solidFill>
                <a:latin typeface="Consolas"/>
                <a:ea typeface="Consolas"/>
                <a:cs typeface="Consolas"/>
              </a:rPr>
              <a:t>+/- 1 s/d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38458C-11C2-41E7-8011-2B6B4522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14925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9E1250-F81F-4FCB-9B96-0C53575E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619625"/>
            <a:ext cx="2476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20263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3C2688-FC25-412D-ACA3-21CCB75F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434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7F9FC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7F9FC"/>
                </a:solidFill>
                <a:latin typeface="Consolas"/>
                <a:ea typeface="Consolas"/>
                <a:cs typeface="Consolas"/>
              </a:rPr>
              <a:t>+/- 1 deg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7FD256-B7BF-4A5F-BF7A-68CB09BB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14925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Amplitude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9479DF-D460-4204-8E2D-DBED019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19625"/>
            <a:ext cx="2476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20263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D4901D-D003-4F65-B8C4-FB3A5F4E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434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7F9FC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7F9FC"/>
                </a:solidFill>
                <a:latin typeface="Consolas"/>
                <a:ea typeface="Consolas"/>
                <a:cs typeface="Consolas"/>
              </a:rPr>
              <a:t>+/- 0.1 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C0C769-DF52-4663-8076-709C189E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14925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Beat error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0403DD-5627-4675-BA1A-1523789F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958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441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164"/>
                </a:solidFill>
                <a:latin typeface="Aptos"/>
                <a:ea typeface="Aptos"/>
                <a:cs typeface="Aptos"/>
              </a:rPr>
              <a:t>If commercial comparison is not complete, say it plainly and show clean-reference pass + planned comparison.</a:t>
            </a:r>
          </a:p>
        </p:txBody>
      </p:sp>
    </p:spTree>
    <p:extLst>
      <p:ext uri="{BB962C8B-B14F-4D97-AF65-F5344CB8AC3E}">
        <p14:creationId xmlns:p14="http://schemas.microsoft.com/office/powerpoint/2010/main" val="7499896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5EC931-ECBF-4C1B-83F2-F048D891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6084D-7CF8-4092-B0A0-0D478EC3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5C2F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5C2FF"/>
                </a:solidFill>
                <a:latin typeface="Consolas"/>
                <a:ea typeface="Consolas"/>
                <a:cs typeface="Consolas"/>
              </a:rPr>
              <a:t>AREAS 5 &amp; 7 · EXTENSIBILITY AND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8B890-34B8-4811-B62C-1E8AEED9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Small change surfaces, checked AI 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88F19-74B9-4169-8E17-9270D7FE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The same structure supports adding displays and reviewing AI-assisted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84DD2-24FE-48F1-841A-01F7C56A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9CD98-1CE3-4963-B529-5FA89825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581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58194"/>
                </a:solidFill>
                <a:latin typeface="Aptos"/>
                <a:ea typeface="Aptos"/>
                <a:cs typeface="Aptos"/>
              </a:rPr>
              <a:t>Sources: FinalDemo scripts; Milestone/en SW Architect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54E0D-9BF0-468E-A17E-1F8FE537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AAB3C2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AAB3C2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7C400-ACB3-40C7-B663-3C75DEC9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49530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BF6FC-C7B0-415F-AC76-DE540F64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QAS-5 extensibility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261CA-F632-4270-84E0-35A0E616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35C2FF"/>
                </a:solidFill>
                <a:latin typeface="Consolas"/>
                <a:ea typeface="Consolas"/>
                <a:cs typeface="Consolas"/>
              </a:defRPr>
            </a:pPr>
            <a:r>
              <a:rPr sz="4200" b="1">
                <a:solidFill>
                  <a:srgbClr val="35C2FF"/>
                </a:solidFill>
                <a:latin typeface="Consolas"/>
                <a:ea typeface="Consolas"/>
                <a:cs typeface="Consolas"/>
              </a:rPr>
              <a:t>&lt;=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DF92A-0F2B-4F7D-AF2B-AB8CDA16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28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9FC"/>
                </a:solidFill>
                <a:latin typeface="Aptos"/>
                <a:ea typeface="Aptos"/>
                <a:cs typeface="Aptos"/>
              </a:rPr>
              <a:t>existing module changed per new graph/filter/measurement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BA912-2993-4296-8606-5F2653EB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1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C269D-9A3E-4C98-B33D-FFACC93F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9FC"/>
                </a:solidFill>
                <a:latin typeface="Aptos"/>
                <a:ea typeface="Aptos"/>
                <a:cs typeface="Aptos"/>
              </a:rPr>
              <a:t>InfoTabCatalog entry + consumer + renderer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87822-78CE-492C-B072-D30C5F55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1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8AAB0-822B-4ECD-AB7B-26589120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9FC"/>
                </a:solidFill>
                <a:latin typeface="Aptos"/>
                <a:ea typeface="Aptos"/>
                <a:cs typeface="Aptos"/>
              </a:rPr>
              <a:t>Immutable AnalysisFrame fan-out to displays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E27F1-6251-48BB-BAAF-A44300DF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1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F783E-824D-4DAA-9843-D1DB16F9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9FC"/>
                </a:solidFill>
                <a:latin typeface="Aptos"/>
                <a:ea typeface="Aptos"/>
                <a:cs typeface="Aptos"/>
              </a:rPr>
              <a:t>App/test/verify separation for six-person 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05565E-E874-4805-B2C0-CA5B1CF0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1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14A58F-0B49-4D4B-A076-6B86DF16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9FC"/>
                </a:solidFill>
                <a:latin typeface="Aptos"/>
                <a:ea typeface="Aptos"/>
                <a:cs typeface="Aptos"/>
              </a:rPr>
              <a:t>ViewModel tests and Core dependency checks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7429D1-2C8F-4ADE-A280-8DB57514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33550"/>
            <a:ext cx="49530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4D282-21A6-400A-88E4-67D5CCFC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AI use with guardrails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9D2047-5B22-4636-976A-CB8E68DD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1352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0263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AF49A8-3574-4474-8FCC-0CBD5692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C2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35C2FF"/>
                </a:solidFill>
                <a:latin typeface="Aptos Display"/>
                <a:ea typeface="Aptos Display"/>
                <a:cs typeface="Aptos Display"/>
              </a:rPr>
              <a:t>Product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9358DF-D68B-4D36-AFF5-7F50F53D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0990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Classifier seam + fallback; model cannot retime events.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8F14A4-8EE5-4905-9380-8F0BE09D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1352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0263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0E30FD-A2B2-4B2E-BF8E-5425659A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3D18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3D18A"/>
                </a:solidFill>
                <a:latin typeface="Aptos Display"/>
                <a:ea typeface="Aptos Display"/>
                <a:cs typeface="Aptos Display"/>
              </a:rPr>
              <a:t>Develop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325AFA-35B3-47BE-BDDB-8D48CEDF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990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Claude/Codex for port, tests, debugging, docs.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D1CA68-E380-4C9A-A080-0DB20127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1352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0263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70244C-300F-4075-82F2-8157E9C5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479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Automate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BA41FD-EB97-48A1-BB4C-41230E20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0990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AI-assisted CI/CD build, test, Verify, release checks.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727EA7-AB4A-441E-9031-2CEA8B22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67150"/>
            <a:ext cx="4057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9FC"/>
                </a:solidFill>
                <a:latin typeface="Aptos"/>
                <a:ea typeface="Aptos"/>
                <a:cs typeface="Aptos"/>
              </a:rPr>
              <a:t>Risk posture: AI over-claims. Mitigation: ADR-004, tests, Verify fixtures, CI, human review, and EXP-04 before TinyML adoption.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34529D-B6D1-4A73-BACC-704880EF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48250"/>
            <a:ext cx="2457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0E65C5-7B5D-419D-B492-94F72A16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05400"/>
            <a:ext cx="2266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ADR-004 · Safety net for AI code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22930E-C51F-4999-BC60-D809EA80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48250"/>
            <a:ext cx="2762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6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58473F-618F-43BC-9AC5-1218141A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05400"/>
            <a:ext cx="2571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EXP-04 · TinyML Go / Conditional / No-Go</a:t>
            </a:r>
          </a:p>
        </p:txBody>
      </p:sp>
    </p:spTree>
    <p:extLst>
      <p:ext uri="{BB962C8B-B14F-4D97-AF65-F5344CB8AC3E}">
        <p14:creationId xmlns:p14="http://schemas.microsoft.com/office/powerpoint/2010/main" val="17896077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EAD676-85E6-4019-95F6-9D6DCE74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62D93-1101-4F5A-9A1F-60D52A82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5C2F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5C2FF"/>
                </a:solidFill>
                <a:latin typeface="Consolas"/>
                <a:ea typeface="Consolas"/>
                <a:cs typeface="Consolas"/>
              </a:rPr>
              <a:t>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02749-3EB1-4932-B839-C46210C2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What evaluators should remember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C5D71-D679-49CE-882F-32FFC28C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The demo shows the running app; the slides show architectural evidence behind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0EEFD-39E5-451D-B6A5-E316AEF2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85A43-4C2C-4214-A63B-690CE5BF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581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58194"/>
                </a:solidFill>
                <a:latin typeface="Aptos"/>
                <a:ea typeface="Aptos"/>
                <a:cs typeface="Aptos"/>
              </a:rPr>
              <a:t>Sources: FinalDemo scripts; Milestone/en SW Architect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F6E60-ED44-4E4F-87EB-221ED174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AAB3C2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AAB3C2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276B2-25AF-4770-A331-387AD319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67140-2FAD-4F95-ACC6-D7638D4F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583EA-EB52-4531-A938-9D917A2B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Accuracy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CF1E8-5512-41FC-AEFC-8EBE7234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Runtime tactics protect measured numbers before visuals or convenience.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AF5B2-0EBB-40D1-A05B-7AD37093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4785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6236B-C0DF-4D5C-AE39-91771B55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14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1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494145-61B5-4DC1-AB4C-8198EB2D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Measured on 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8CBC2-427E-4506-82B9-9DF3789A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Pi 5 latency, drop/miss, and long-run stability are supported by EXP/Risk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0F822-C726-4B34-8F64-9CF2DD4C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4785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96F838-FB47-4200-98A0-0D5938FA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0658E-4A36-4423-94C4-E189B192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Extensible structure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A57205-E394-42CD-A8F1-1A5B670B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Core isolation, AnalysisFrame fan-out, and CI-enforced boundaries keep changes local.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4E835-841E-426F-BB34-5F5AE485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4785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3842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BE00EB-BD34-4FFE-B3AA-1FEAD9E5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14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F919E-E518-486C-96AE-1397CCDC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AI checked, not trusted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951C1B-E500-442A-8E10-E3A6B022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AB3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3C2"/>
                </a:solidFill>
                <a:latin typeface="Aptos"/>
                <a:ea typeface="Aptos"/>
                <a:cs typeface="Aptos"/>
              </a:rPr>
              <a:t>AI helped build the software, but Verify/CI/human review remain the authority.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3D7C27-0488-4D5F-846F-1CA8B59C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Likely Q&amp;A anchors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4AEBD5-0434-4C99-AD80-EB982AAA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67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666753-82A0-4EEB-8799-29FD685F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954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9FC"/>
                </a:solidFill>
                <a:latin typeface="Aptos"/>
                <a:ea typeface="Aptos"/>
                <a:cs typeface="Aptos"/>
              </a:rPr>
              <a:t>SW Architect docs: QAS define criteria, ADRs define rationale, Risk/EXP define evidence.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24583D-D99B-4BED-B203-D9F00EEA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4130B9-3979-4626-B17F-A7434716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14975"/>
            <a:ext cx="954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9FC"/>
                </a:solidFill>
                <a:latin typeface="Aptos"/>
                <a:ea typeface="Aptos"/>
                <a:cs typeface="Aptos"/>
              </a:rPr>
              <a:t>Pipe-and-Filter is worker-level partial, not full DSP-stage splitting.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ADBEED-8CD4-4B3F-81E2-71E02308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15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24972C-4B6D-468F-BEFE-8D1D1E79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38825"/>
            <a:ext cx="954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9FC"/>
                </a:solidFill>
                <a:latin typeface="Aptos"/>
                <a:ea typeface="Aptos"/>
                <a:cs typeface="Aptos"/>
              </a:rPr>
              <a:t>TinyML is conditional unless the trained model is present in the demo build.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3061E4-6AE3-4A39-A940-648BF53D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6324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DDAA0B-9B9C-4675-861E-C25FCA2D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10572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35C2FF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35C2FF"/>
                </a:solidFill>
                <a:latin typeface="Consolas"/>
                <a:ea typeface="Consolas"/>
                <a:cs typeface="Consolas"/>
              </a:rPr>
              <a:t>PROGRAM SURFACE SHOWN IN DEMO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E63655-245F-44C0-8C74-0F88A7B2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8152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5EF"/>
                </a:solidFill>
                <a:latin typeface="Aptos"/>
                <a:ea typeface="Aptos"/>
                <a:cs typeface="Aptos"/>
              </a:rPr>
              <a:t>Rate/Scope · Beat Error · Trace · Vario · Long-Term · Sweep · Escapement · Positions · Beat Noise · Waveforms · Filter Scope · Sound Print · Spectrogram</a:t>
            </a:r>
          </a:p>
        </p:txBody>
      </p:sp>
    </p:spTree>
    <p:extLst>
      <p:ext uri="{BB962C8B-B14F-4D97-AF65-F5344CB8AC3E}">
        <p14:creationId xmlns:p14="http://schemas.microsoft.com/office/powerpoint/2010/main" val="1392291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2026-06-25T05:57:52.6020000Z</dcterms:created>
  <dcterms:modified xsi:type="dcterms:W3CDTF">2026-06-25T05:57:52.6020000Z</dcterms:modified>
</coreProperties>
</file>